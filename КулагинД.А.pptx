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83" autoAdjust="0"/>
  </p:normalViewPr>
  <p:slideViewPr>
    <p:cSldViewPr snapToGrid="0">
      <p:cViewPr varScale="1">
        <p:scale>
          <a:sx n="110" d="100"/>
          <a:sy n="110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C5949-2AAA-4A0D-BD0F-9B3EFAE26DD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8FCAE-81EB-469F-AE21-F6E972890B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05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8FCAE-81EB-469F-AE21-F6E972890BA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387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>
                <a:solidFill>
                  <a:srgbClr val="1B1F27"/>
                </a:solidFill>
              </a:rPr>
              <a:t>все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поля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читаются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последовательно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через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ByteReader</a:t>
            </a:r>
            <a:r>
              <a:rPr lang="en-US" sz="1200" dirty="0">
                <a:solidFill>
                  <a:srgbClr val="1B1F27"/>
                </a:solidFill>
              </a:rPr>
              <a:t>, </a:t>
            </a:r>
            <a:r>
              <a:rPr lang="en-US" sz="1200" dirty="0" err="1">
                <a:solidFill>
                  <a:srgbClr val="1B1F27"/>
                </a:solidFill>
              </a:rPr>
              <a:t>который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контролирует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длины</a:t>
            </a:r>
            <a:r>
              <a:rPr lang="en-US" sz="1200" dirty="0">
                <a:solidFill>
                  <a:srgbClr val="1B1F27"/>
                </a:solidFill>
              </a:rPr>
              <a:t> и </a:t>
            </a:r>
            <a:r>
              <a:rPr lang="en-US" sz="1200" dirty="0" err="1">
                <a:solidFill>
                  <a:srgbClr val="1B1F27"/>
                </a:solidFill>
              </a:rPr>
              <a:t>не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позволяет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выйти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за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границы</a:t>
            </a:r>
            <a:r>
              <a:rPr lang="en-US" sz="1200" dirty="0">
                <a:solidFill>
                  <a:srgbClr val="1B1F27"/>
                </a:solidFill>
              </a:rPr>
              <a:t> </a:t>
            </a:r>
            <a:r>
              <a:rPr lang="en-US" sz="1200" dirty="0" err="1">
                <a:solidFill>
                  <a:srgbClr val="1B1F27"/>
                </a:solidFill>
              </a:rPr>
              <a:t>буфера</a:t>
            </a:r>
            <a:r>
              <a:rPr lang="en-US" sz="1200" dirty="0">
                <a:solidFill>
                  <a:srgbClr val="1B1F27"/>
                </a:solidFill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8FCAE-81EB-469F-AE21-F6E972890BA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48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C47-70BE-4034-98F7-D4030C10241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46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DA46-7DA9-4918-9A29-8AAB5ADF1362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90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E01E-26F4-4A36-874C-9487BB23EEFE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42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A8FE-744E-42C6-B310-32B083ACE391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28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EC94-6473-47FD-B542-699BB2220712}" type="datetime1">
              <a:rPr lang="ru-RU" smtClean="0"/>
              <a:t>14.06.2026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14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C220-CD7E-42EE-A722-6722660F0DE1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29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8F0A-F7D7-4868-BB02-C1C427AD5290}" type="datetime1">
              <a:rPr lang="ru-RU" smtClean="0"/>
              <a:t>14.06.2026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46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F6D9-08E1-4F82-9DAA-63ABB25E5D8E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79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07B70-A670-4FDC-9884-AC45174F599E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DEB6-352D-4F70-9ECE-BAD71AD3B9C5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9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EA62-161A-448A-B12E-A72399020C54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738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C46B-61FC-49DA-8DC4-E7A945884364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1993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2039A-C8DA-4C5A-95EF-C332312A5DF1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804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65C1-5B31-4651-B317-EEC5173CAA92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337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AB45-1308-4170-A7C3-4318FBCDFB5B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065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715F-3394-481A-A910-B076FF6FF962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842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1B3E3-40B8-4443-B94A-39DC3528C24A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48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B850A87-C4CD-4D4D-B8AA-215CE63CFC7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FC82134-A252-4186-8112-8A92411F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05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dSova777/Crypto_lr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0BA599E-A2DC-4453-9869-B2668CFDB1C8}"/>
              </a:ext>
            </a:extLst>
          </p:cNvPr>
          <p:cNvSpPr/>
          <p:nvPr/>
        </p:nvSpPr>
        <p:spPr>
          <a:xfrm>
            <a:off x="3321946" y="2444931"/>
            <a:ext cx="4911634" cy="225851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6E02F-6A0C-4B43-AAA5-B5472B758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71328"/>
            <a:ext cx="9440034" cy="1828801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Парсер закрытых ключей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OpenSSH openssh-key-v1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DE1E1A8-AD21-46C6-B741-CCE1C794A3CC}"/>
              </a:ext>
            </a:extLst>
          </p:cNvPr>
          <p:cNvSpPr/>
          <p:nvPr/>
        </p:nvSpPr>
        <p:spPr>
          <a:xfrm>
            <a:off x="4232427" y="2725726"/>
            <a:ext cx="3063240" cy="43891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BEGIN OPENSSH PRIVATE KEY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65C6EC9-A849-4066-BCC7-2233D51D21ED}"/>
              </a:ext>
            </a:extLst>
          </p:cNvPr>
          <p:cNvSpPr/>
          <p:nvPr/>
        </p:nvSpPr>
        <p:spPr>
          <a:xfrm>
            <a:off x="3820947" y="3338374"/>
            <a:ext cx="3858768" cy="45720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Base64 → binary → parameters</a:t>
            </a:r>
            <a:endParaRPr lang="en-US" sz="12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45F7412-FD77-445D-BF56-6E6697852FFC}"/>
              </a:ext>
            </a:extLst>
          </p:cNvPr>
          <p:cNvSpPr/>
          <p:nvPr/>
        </p:nvSpPr>
        <p:spPr>
          <a:xfrm>
            <a:off x="4534179" y="3951022"/>
            <a:ext cx="2468880" cy="43891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text / JSON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71E181B2-E214-4AD3-975B-528EEEF31CFC}"/>
              </a:ext>
            </a:extLst>
          </p:cNvPr>
          <p:cNvSpPr/>
          <p:nvPr/>
        </p:nvSpPr>
        <p:spPr>
          <a:xfrm>
            <a:off x="5777763" y="3164638"/>
            <a:ext cx="0" cy="17373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72F6FA4F-EA7C-4C0C-AB8A-84BE56D30808}"/>
              </a:ext>
            </a:extLst>
          </p:cNvPr>
          <p:cNvSpPr/>
          <p:nvPr/>
        </p:nvSpPr>
        <p:spPr>
          <a:xfrm>
            <a:off x="5777763" y="3795574"/>
            <a:ext cx="0" cy="15544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6D130-93A2-40B5-93B7-754A723CEF31}"/>
              </a:ext>
            </a:extLst>
          </p:cNvPr>
          <p:cNvSpPr txBox="1"/>
          <p:nvPr/>
        </p:nvSpPr>
        <p:spPr>
          <a:xfrm>
            <a:off x="175417" y="6031780"/>
            <a:ext cx="7374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Кулагин Д.А.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RedSova777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https://github.com/RedSova777/Crypto_lr.git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014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97BD309-531E-456A-8917-89183221805D}"/>
              </a:ext>
            </a:extLst>
          </p:cNvPr>
          <p:cNvSpPr/>
          <p:nvPr/>
        </p:nvSpPr>
        <p:spPr>
          <a:xfrm>
            <a:off x="134983" y="2672827"/>
            <a:ext cx="11922034" cy="96447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7F543-14DA-41AD-97EE-2B89FA62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739" y="145585"/>
            <a:ext cx="10515600" cy="694554"/>
          </a:xfrm>
        </p:spPr>
        <p:txBody>
          <a:bodyPr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Цель</a:t>
            </a:r>
            <a:r>
              <a:rPr lang="en-US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и задачи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9D542-5A0C-497B-8C8C-53C2768701E3}"/>
              </a:ext>
            </a:extLst>
          </p:cNvPr>
          <p:cNvSpPr txBox="1"/>
          <p:nvPr/>
        </p:nvSpPr>
        <p:spPr>
          <a:xfrm>
            <a:off x="1863941" y="1156318"/>
            <a:ext cx="8285426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прочитать закрытый ключ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проверить структуру и вывести криптографические параметры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813722-0566-431B-B77B-CB8FC947DC66}"/>
              </a:ext>
            </a:extLst>
          </p:cNvPr>
          <p:cNvSpPr/>
          <p:nvPr/>
        </p:nvSpPr>
        <p:spPr>
          <a:xfrm>
            <a:off x="283835" y="2766292"/>
            <a:ext cx="3364992" cy="73758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Вход</a:t>
            </a:r>
            <a:r>
              <a:rPr lang="en-US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
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ASCII файл с заголовком BEGIN/END OPENSSH PRIVATE KEY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F848138-31AC-4574-B8EF-AA8FC4FA296C}"/>
              </a:ext>
            </a:extLst>
          </p:cNvPr>
          <p:cNvSpPr/>
          <p:nvPr/>
        </p:nvSpPr>
        <p:spPr>
          <a:xfrm>
            <a:off x="4364964" y="2766292"/>
            <a:ext cx="3441627" cy="73758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ru-RU" sz="1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</a:p>
          <a:p>
            <a:pPr marL="0" indent="0" algn="ctr">
              <a:buNone/>
            </a:pPr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обёртки, 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Base64, magic-</a:t>
            </a:r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заголовка, 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public/private blob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D33E3FA-FA07-4EA2-BB57-0E46E31EA49F}"/>
              </a:ext>
            </a:extLst>
          </p:cNvPr>
          <p:cNvSpPr/>
          <p:nvPr/>
        </p:nvSpPr>
        <p:spPr>
          <a:xfrm>
            <a:off x="8548643" y="2766292"/>
            <a:ext cx="3364992" cy="73758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Выход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
Текстовый отчёт или структурированный JSON с параметрами ключа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FBC0B2C-9377-4BBF-BBF2-C2AA3D47217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648827" y="3135086"/>
            <a:ext cx="71613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4E64E8D-8C4B-457D-9444-DFA74884645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832506" y="3135086"/>
            <a:ext cx="71613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2D4E86-B376-474C-B862-5648D21E5D94}"/>
              </a:ext>
            </a:extLst>
          </p:cNvPr>
          <p:cNvSpPr txBox="1"/>
          <p:nvPr/>
        </p:nvSpPr>
        <p:spPr>
          <a:xfrm>
            <a:off x="1078327" y="4013806"/>
            <a:ext cx="9699900" cy="240065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структуру и особенности формата закрытых ключей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openssh-key-v1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правила упаковки данных в файле закрытого ключа: текстовую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-обёртку, Base64-кодирование и внутреннюю бинарную структуру.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механизм последовательного чтения бинарных SSH-структур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разбор служебных полей контейнера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поддержку разбора нескольких типов ключей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тесты программы на различных входных значениях</a:t>
            </a: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DAC8AE0B-D928-40A5-BDE0-4B71FBF1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5166" y="6414463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213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FADA10C-0A85-4224-A024-9170E29E785C}"/>
              </a:ext>
            </a:extLst>
          </p:cNvPr>
          <p:cNvSpPr/>
          <p:nvPr/>
        </p:nvSpPr>
        <p:spPr>
          <a:xfrm>
            <a:off x="2385842" y="1365960"/>
            <a:ext cx="6888480" cy="2642396"/>
          </a:xfrm>
          <a:prstGeom prst="rect">
            <a:avLst/>
          </a:prstGeom>
          <a:effectLst>
            <a:outerShdw blurRad="63500" dist="25400" dir="5400000" rotWithShape="0">
              <a:srgbClr val="000000">
                <a:alpha val="60000"/>
              </a:srgbClr>
            </a:outerShdw>
            <a:softEdge rad="31750"/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95C4B84-9AE5-4FCA-95D1-588E31C70C0F}"/>
              </a:ext>
            </a:extLst>
          </p:cNvPr>
          <p:cNvSpPr/>
          <p:nvPr/>
        </p:nvSpPr>
        <p:spPr>
          <a:xfrm>
            <a:off x="2673224" y="1811572"/>
            <a:ext cx="6313715" cy="204003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2BF752C-787E-4DE2-9C5D-B524E66181D5}"/>
              </a:ext>
            </a:extLst>
          </p:cNvPr>
          <p:cNvSpPr/>
          <p:nvPr/>
        </p:nvSpPr>
        <p:spPr>
          <a:xfrm>
            <a:off x="690155" y="4565249"/>
            <a:ext cx="10694125" cy="136089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12BDD-1289-40BC-A148-3032D96A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84" y="141859"/>
            <a:ext cx="10515600" cy="737282"/>
          </a:xfrm>
        </p:spPr>
        <p:txBody>
          <a:bodyPr>
            <a:normAutofit/>
          </a:bodyPr>
          <a:lstStyle/>
          <a:p>
            <a:r>
              <a:rPr lang="ru-RU" b="1" dirty="0"/>
              <a:t>Формат входного файла </a:t>
            </a:r>
            <a:r>
              <a:rPr lang="en-US" b="1" dirty="0"/>
              <a:t>OpenSSH</a:t>
            </a:r>
            <a:endParaRPr lang="ru-RU" b="1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0D1C4F-8435-41C2-8426-A445F1D87087}"/>
              </a:ext>
            </a:extLst>
          </p:cNvPr>
          <p:cNvSpPr/>
          <p:nvPr/>
        </p:nvSpPr>
        <p:spPr>
          <a:xfrm>
            <a:off x="846602" y="4697056"/>
            <a:ext cx="4983480" cy="1078992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-----BEGIN OPENSSH PRIVATE KEY-----</a:t>
            </a:r>
            <a:endParaRPr lang="en-US" sz="125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25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...base64...</a:t>
            </a:r>
            <a:endParaRPr lang="en-US" sz="125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25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-----END OPENSSH PRIVATE KEY-----</a:t>
            </a:r>
            <a:endParaRPr lang="en-US" sz="125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AEB70CC-00D7-4BCB-BE77-DF3C45C2068E}"/>
              </a:ext>
            </a:extLst>
          </p:cNvPr>
          <p:cNvSpPr/>
          <p:nvPr/>
        </p:nvSpPr>
        <p:spPr>
          <a:xfrm>
            <a:off x="5840679" y="5245696"/>
            <a:ext cx="649224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A9F0B52-00B8-459C-BF70-122A76B1B16D}"/>
              </a:ext>
            </a:extLst>
          </p:cNvPr>
          <p:cNvSpPr/>
          <p:nvPr/>
        </p:nvSpPr>
        <p:spPr>
          <a:xfrm>
            <a:off x="6489903" y="4934800"/>
            <a:ext cx="1691640" cy="60350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Base64 decode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1F9659E8-BE48-400C-829B-481D1484FA83}"/>
              </a:ext>
            </a:extLst>
          </p:cNvPr>
          <p:cNvSpPr/>
          <p:nvPr/>
        </p:nvSpPr>
        <p:spPr>
          <a:xfrm>
            <a:off x="8181543" y="5245696"/>
            <a:ext cx="67665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98482C6-C4D4-4775-9363-B240FEAA7B41}"/>
              </a:ext>
            </a:extLst>
          </p:cNvPr>
          <p:cNvSpPr/>
          <p:nvPr/>
        </p:nvSpPr>
        <p:spPr>
          <a:xfrm>
            <a:off x="8830767" y="4934800"/>
            <a:ext cx="2423160" cy="60350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openssh-key-v1\0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35830-0A7A-4606-BD4B-C0E00DA36EED}"/>
              </a:ext>
            </a:extLst>
          </p:cNvPr>
          <p:cNvSpPr txBox="1"/>
          <p:nvPr/>
        </p:nvSpPr>
        <p:spPr>
          <a:xfrm>
            <a:off x="4305703" y="1295886"/>
            <a:ext cx="2949159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Выходные параметры: 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A0C7F7-5F0F-493A-90CF-79EE94FEFBB9}"/>
              </a:ext>
            </a:extLst>
          </p:cNvPr>
          <p:cNvSpPr/>
          <p:nvPr/>
        </p:nvSpPr>
        <p:spPr>
          <a:xfrm>
            <a:off x="2881360" y="1959578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string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4CB7ED-6B38-4ACA-A1C4-73FBBBBBB26A}"/>
              </a:ext>
            </a:extLst>
          </p:cNvPr>
          <p:cNvSpPr/>
          <p:nvPr/>
        </p:nvSpPr>
        <p:spPr>
          <a:xfrm>
            <a:off x="3932920" y="1959578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ciphername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D7039D-3959-49D8-9786-6840A37BDA7E}"/>
              </a:ext>
            </a:extLst>
          </p:cNvPr>
          <p:cNvSpPr/>
          <p:nvPr/>
        </p:nvSpPr>
        <p:spPr>
          <a:xfrm>
            <a:off x="6145769" y="1959578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алгоритм шифрования приватного блока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177F8E-8AEE-400E-8BB1-0F54772F1637}"/>
              </a:ext>
            </a:extLst>
          </p:cNvPr>
          <p:cNvSpPr/>
          <p:nvPr/>
        </p:nvSpPr>
        <p:spPr>
          <a:xfrm>
            <a:off x="2881360" y="2243042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string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010601C-AACE-4E41-88B1-15835E75D8BA}"/>
              </a:ext>
            </a:extLst>
          </p:cNvPr>
          <p:cNvSpPr/>
          <p:nvPr/>
        </p:nvSpPr>
        <p:spPr>
          <a:xfrm>
            <a:off x="3932920" y="2243042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kdfname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30F19BC-E0D4-4D3C-B313-B0F4AA76B40D}"/>
              </a:ext>
            </a:extLst>
          </p:cNvPr>
          <p:cNvSpPr/>
          <p:nvPr/>
        </p:nvSpPr>
        <p:spPr>
          <a:xfrm>
            <a:off x="6145768" y="2243042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KDF для получения ключа из пароля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2603F2C-CFDE-4828-85B0-1016954B919F}"/>
              </a:ext>
            </a:extLst>
          </p:cNvPr>
          <p:cNvSpPr/>
          <p:nvPr/>
        </p:nvSpPr>
        <p:spPr>
          <a:xfrm>
            <a:off x="2881360" y="2526506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string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889C40-6EB0-4E0B-B8DD-EB46E94F48C1}"/>
              </a:ext>
            </a:extLst>
          </p:cNvPr>
          <p:cNvSpPr/>
          <p:nvPr/>
        </p:nvSpPr>
        <p:spPr>
          <a:xfrm>
            <a:off x="3932920" y="2526506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kdfoptions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1734459-06B2-4C9F-84FF-1B345977A910}"/>
              </a:ext>
            </a:extLst>
          </p:cNvPr>
          <p:cNvSpPr/>
          <p:nvPr/>
        </p:nvSpPr>
        <p:spPr>
          <a:xfrm>
            <a:off x="6145768" y="2526506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параметры KDF: соль, rounds и др.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4C594E-8908-41EB-9F20-47173DDD5623}"/>
              </a:ext>
            </a:extLst>
          </p:cNvPr>
          <p:cNvSpPr/>
          <p:nvPr/>
        </p:nvSpPr>
        <p:spPr>
          <a:xfrm>
            <a:off x="2881360" y="2809970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uint32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9A7436A-0AAC-420D-AA2C-D8A7B44E23C1}"/>
              </a:ext>
            </a:extLst>
          </p:cNvPr>
          <p:cNvSpPr/>
          <p:nvPr/>
        </p:nvSpPr>
        <p:spPr>
          <a:xfrm>
            <a:off x="3932920" y="2809970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nkeys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FC0532C-A7A9-46CB-9B24-DE8622AF4FD3}"/>
              </a:ext>
            </a:extLst>
          </p:cNvPr>
          <p:cNvSpPr/>
          <p:nvPr/>
        </p:nvSpPr>
        <p:spPr>
          <a:xfrm>
            <a:off x="6145768" y="2809970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количество ключей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252538A-CA49-4245-A9B9-5495B7C87AE3}"/>
              </a:ext>
            </a:extLst>
          </p:cNvPr>
          <p:cNvSpPr/>
          <p:nvPr/>
        </p:nvSpPr>
        <p:spPr>
          <a:xfrm>
            <a:off x="2881360" y="3093434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string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E8F454-EB53-489B-9DDE-A2ED3DECBAC9}"/>
              </a:ext>
            </a:extLst>
          </p:cNvPr>
          <p:cNvSpPr/>
          <p:nvPr/>
        </p:nvSpPr>
        <p:spPr>
          <a:xfrm>
            <a:off x="3932920" y="3093434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public_key_blob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6C7635E-EE59-470A-B8AD-B8B2AC632B8F}"/>
              </a:ext>
            </a:extLst>
          </p:cNvPr>
          <p:cNvSpPr/>
          <p:nvPr/>
        </p:nvSpPr>
        <p:spPr>
          <a:xfrm>
            <a:off x="6145768" y="3093434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публичная часть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4A31695-813B-4CA5-BCBB-D8CA0D590A8E}"/>
              </a:ext>
            </a:extLst>
          </p:cNvPr>
          <p:cNvSpPr/>
          <p:nvPr/>
        </p:nvSpPr>
        <p:spPr>
          <a:xfrm>
            <a:off x="2881360" y="3376898"/>
            <a:ext cx="1051560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string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847FE2-2772-44CD-90C9-453EFB432DF2}"/>
              </a:ext>
            </a:extLst>
          </p:cNvPr>
          <p:cNvSpPr/>
          <p:nvPr/>
        </p:nvSpPr>
        <p:spPr>
          <a:xfrm>
            <a:off x="3932920" y="3376898"/>
            <a:ext cx="2212848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private_key_blob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A5C49EB-B342-4C9C-A65C-55951DB80EFF}"/>
              </a:ext>
            </a:extLst>
          </p:cNvPr>
          <p:cNvSpPr/>
          <p:nvPr/>
        </p:nvSpPr>
        <p:spPr>
          <a:xfrm>
            <a:off x="6145768" y="3376898"/>
            <a:ext cx="2640874" cy="24688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/>
                </a:solidFill>
              </a:rPr>
              <a:t>приватная часть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8F0F5C-1E6A-4D6C-ABEB-D395D220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4280" y="6405790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23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33834F8-3843-4BAB-A03D-9DAF70925914}"/>
              </a:ext>
            </a:extLst>
          </p:cNvPr>
          <p:cNvSpPr/>
          <p:nvPr/>
        </p:nvSpPr>
        <p:spPr>
          <a:xfrm>
            <a:off x="691896" y="4497383"/>
            <a:ext cx="10932305" cy="136089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88C18-622F-4C3F-9D03-705115E6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8872"/>
            <a:ext cx="10353762" cy="97045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работы программы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E356CEE-A38F-462A-A559-B4718AFB393E}"/>
              </a:ext>
            </a:extLst>
          </p:cNvPr>
          <p:cNvSpPr/>
          <p:nvPr/>
        </p:nvSpPr>
        <p:spPr>
          <a:xfrm>
            <a:off x="2182368" y="3480976"/>
            <a:ext cx="26517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16D1C678-701B-472D-AA28-5F75F81BAD4A}"/>
              </a:ext>
            </a:extLst>
          </p:cNvPr>
          <p:cNvSpPr/>
          <p:nvPr/>
        </p:nvSpPr>
        <p:spPr>
          <a:xfrm>
            <a:off x="4102608" y="3480976"/>
            <a:ext cx="29260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2BC5AF4B-0BD4-478A-941F-EEC408176D47}"/>
              </a:ext>
            </a:extLst>
          </p:cNvPr>
          <p:cNvSpPr/>
          <p:nvPr/>
        </p:nvSpPr>
        <p:spPr>
          <a:xfrm>
            <a:off x="6169152" y="3480976"/>
            <a:ext cx="237744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5C2C6FA3-B7E2-43EA-94D9-926548097A04}"/>
              </a:ext>
            </a:extLst>
          </p:cNvPr>
          <p:cNvSpPr/>
          <p:nvPr/>
        </p:nvSpPr>
        <p:spPr>
          <a:xfrm>
            <a:off x="8107680" y="3480976"/>
            <a:ext cx="31089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5CE14DE-B28D-4C84-99B4-67994B70DB44}"/>
              </a:ext>
            </a:extLst>
          </p:cNvPr>
          <p:cNvSpPr/>
          <p:nvPr/>
        </p:nvSpPr>
        <p:spPr>
          <a:xfrm>
            <a:off x="9936480" y="3480976"/>
            <a:ext cx="1737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9706D13-4D8D-448D-B216-D4487D25D0C4}"/>
              </a:ext>
            </a:extLst>
          </p:cNvPr>
          <p:cNvSpPr/>
          <p:nvPr/>
        </p:nvSpPr>
        <p:spPr>
          <a:xfrm>
            <a:off x="691896" y="3151792"/>
            <a:ext cx="1417320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CLI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args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266C9AB-DEE6-4CB1-A049-E67D44E54152}"/>
              </a:ext>
            </a:extLst>
          </p:cNvPr>
          <p:cNvSpPr/>
          <p:nvPr/>
        </p:nvSpPr>
        <p:spPr>
          <a:xfrm>
            <a:off x="2520696" y="3151792"/>
            <a:ext cx="1508760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load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file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1008CF2-35DA-4B63-A363-E73A3095B98B}"/>
              </a:ext>
            </a:extLst>
          </p:cNvPr>
          <p:cNvSpPr/>
          <p:nvPr/>
        </p:nvSpPr>
        <p:spPr>
          <a:xfrm>
            <a:off x="4468368" y="3151792"/>
            <a:ext cx="1627632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parse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container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5C4333C-665E-4B51-800D-42171D768C3A}"/>
              </a:ext>
            </a:extLst>
          </p:cNvPr>
          <p:cNvSpPr/>
          <p:nvPr/>
        </p:nvSpPr>
        <p:spPr>
          <a:xfrm>
            <a:off x="6480048" y="3151792"/>
            <a:ext cx="1554480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parse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blobs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D86A412-4BB1-485B-AA71-5F628EB1E80D}"/>
              </a:ext>
            </a:extLst>
          </p:cNvPr>
          <p:cNvSpPr/>
          <p:nvPr/>
        </p:nvSpPr>
        <p:spPr>
          <a:xfrm>
            <a:off x="8491728" y="3151792"/>
            <a:ext cx="1371600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create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object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8778342-55BE-4FC6-9829-FF2533B91C30}"/>
              </a:ext>
            </a:extLst>
          </p:cNvPr>
          <p:cNvSpPr/>
          <p:nvPr/>
        </p:nvSpPr>
        <p:spPr>
          <a:xfrm>
            <a:off x="10183368" y="3151792"/>
            <a:ext cx="1325880" cy="6583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write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7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output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F4472B5-D9B4-4AB0-995C-181D691C375D}"/>
              </a:ext>
            </a:extLst>
          </p:cNvPr>
          <p:cNvSpPr/>
          <p:nvPr/>
        </p:nvSpPr>
        <p:spPr>
          <a:xfrm>
            <a:off x="691896" y="1560132"/>
            <a:ext cx="1417320" cy="73510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Начало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05189B-9F39-465C-8FF8-B14462CF93EE}"/>
              </a:ext>
            </a:extLst>
          </p:cNvPr>
          <p:cNvSpPr/>
          <p:nvPr/>
        </p:nvSpPr>
        <p:spPr>
          <a:xfrm>
            <a:off x="10192512" y="1560132"/>
            <a:ext cx="1316736" cy="73510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557B964F-B586-4C24-BD4D-D8C390575063}"/>
              </a:ext>
            </a:extLst>
          </p:cNvPr>
          <p:cNvSpPr/>
          <p:nvPr/>
        </p:nvSpPr>
        <p:spPr>
          <a:xfrm flipH="1">
            <a:off x="1362635" y="2295239"/>
            <a:ext cx="0" cy="83708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6CACEB48-96DE-498E-91AC-8426AA1CE13C}"/>
              </a:ext>
            </a:extLst>
          </p:cNvPr>
          <p:cNvSpPr/>
          <p:nvPr/>
        </p:nvSpPr>
        <p:spPr>
          <a:xfrm flipH="1">
            <a:off x="10850700" y="2295238"/>
            <a:ext cx="0" cy="82279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BD245AD2-631C-4776-9EE2-58EC6F736483}"/>
              </a:ext>
            </a:extLst>
          </p:cNvPr>
          <p:cNvSpPr/>
          <p:nvPr/>
        </p:nvSpPr>
        <p:spPr>
          <a:xfrm>
            <a:off x="815993" y="4733429"/>
            <a:ext cx="3703320" cy="78222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Проверки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BEGIN/END, Base64, AUTH_MAGIC, cipher/kdf, nkeys, checkint, padding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08BB22CF-4B89-4DE1-82E3-E188363DFEF8}"/>
              </a:ext>
            </a:extLst>
          </p:cNvPr>
          <p:cNvSpPr/>
          <p:nvPr/>
        </p:nvSpPr>
        <p:spPr>
          <a:xfrm>
            <a:off x="4811921" y="4733429"/>
            <a:ext cx="3566160" cy="78222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Результат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Dataclass-объект с параметрами ключа: RSA / ECDSA / Ed25519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AB64E9FF-7C97-49DF-B7B3-A61E86D6B65C}"/>
              </a:ext>
            </a:extLst>
          </p:cNvPr>
          <p:cNvSpPr/>
          <p:nvPr/>
        </p:nvSpPr>
        <p:spPr>
          <a:xfrm>
            <a:off x="8679833" y="4746452"/>
            <a:ext cx="2834640" cy="78222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Вывод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format_text() или to_dict() </a:t>
            </a:r>
            <a:r>
              <a:rPr lang="ru-RU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в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JSON; результат в stdout или файл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C6E452-32E7-444C-8BD7-24551945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7451" y="6431915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87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49763A3-F32E-442A-B4D7-16BEA1B915E3}"/>
              </a:ext>
            </a:extLst>
          </p:cNvPr>
          <p:cNvSpPr/>
          <p:nvPr/>
        </p:nvSpPr>
        <p:spPr>
          <a:xfrm>
            <a:off x="412260" y="1495075"/>
            <a:ext cx="11162211" cy="136089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31C63-D59B-452C-8449-8D0A2744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374"/>
            <a:ext cx="12192000" cy="674781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Поддерживаемые типы ключей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1BBE85A-BF5F-4FC3-A79D-FA934017B235}"/>
              </a:ext>
            </a:extLst>
          </p:cNvPr>
          <p:cNvSpPr/>
          <p:nvPr/>
        </p:nvSpPr>
        <p:spPr>
          <a:xfrm>
            <a:off x="535742" y="1728362"/>
            <a:ext cx="3429000" cy="89432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RSA / ssh-rsa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Извлекаются n, e, d. Дополнительные CRT-поля читаются для перехода к comment и padding.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65C32EB-C215-4A02-A4D3-3023D08476B8}"/>
              </a:ext>
            </a:extLst>
          </p:cNvPr>
          <p:cNvSpPr/>
          <p:nvPr/>
        </p:nvSpPr>
        <p:spPr>
          <a:xfrm>
            <a:off x="4266494" y="1728362"/>
            <a:ext cx="3429000" cy="89432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ECDSA / nistp*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Извлекаются curve, публичная точка Q, координаты X/Y и приватный скаляр d.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929FEDA-2CAF-4C27-81CC-68E8572072EA}"/>
              </a:ext>
            </a:extLst>
          </p:cNvPr>
          <p:cNvSpPr/>
          <p:nvPr/>
        </p:nvSpPr>
        <p:spPr>
          <a:xfrm>
            <a:off x="7997246" y="1728362"/>
            <a:ext cx="3429000" cy="89432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Ed25519
</a:t>
            </a:r>
            <a:r>
              <a:rPr lang="en-US" sz="135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Извлекаются public_key, seed и полный private_key: seed(32) || public_key(32).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7501E83-9AFC-4C79-A7BB-01DA6BCC0BD7}"/>
              </a:ext>
            </a:extLst>
          </p:cNvPr>
          <p:cNvSpPr/>
          <p:nvPr/>
        </p:nvSpPr>
        <p:spPr>
          <a:xfrm>
            <a:off x="1626797" y="3636272"/>
            <a:ext cx="8752114" cy="36576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</a:t>
            </a:r>
            <a:r>
              <a:rPr lang="en-US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определяет тип ключа по public_key_blob и вызывает соответствующий разбор private_key_blob.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BB3FE-79CB-4DAF-8361-9DD46E29B64F}"/>
              </a:ext>
            </a:extLst>
          </p:cNvPr>
          <p:cNvSpPr txBox="1"/>
          <p:nvPr/>
        </p:nvSpPr>
        <p:spPr>
          <a:xfrm>
            <a:off x="535742" y="4604101"/>
            <a:ext cx="10934225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корректности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разбора выполняется сравнение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Ed25519 дополнительно проверяется, что последние 32 байта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private_key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совпадают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public_key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E3C93A-0E6D-4869-AB6C-3C17C585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5361" y="6400557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5</a:t>
            </a:fld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B017CF4-1CFA-4CE3-B00A-5CB8E5B8EFCC}"/>
              </a:ext>
            </a:extLst>
          </p:cNvPr>
          <p:cNvCxnSpPr>
            <a:cxnSpLocks/>
          </p:cNvCxnSpPr>
          <p:nvPr/>
        </p:nvCxnSpPr>
        <p:spPr>
          <a:xfrm>
            <a:off x="6002854" y="4119154"/>
            <a:ext cx="0" cy="39188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53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847F1F4-DCAD-4AD2-BDA4-26095C0E789D}"/>
              </a:ext>
            </a:extLst>
          </p:cNvPr>
          <p:cNvSpPr/>
          <p:nvPr/>
        </p:nvSpPr>
        <p:spPr>
          <a:xfrm>
            <a:off x="3020466" y="1191703"/>
            <a:ext cx="6235337" cy="92333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31C63-D59B-452C-8449-8D0A2744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491" y="169842"/>
            <a:ext cx="6723017" cy="674781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программы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ADF5A-B9EC-4D43-89FA-FCD1E33A4609}"/>
              </a:ext>
            </a:extLst>
          </p:cNvPr>
          <p:cNvSpPr txBox="1"/>
          <p:nvPr/>
        </p:nvSpPr>
        <p:spPr>
          <a:xfrm>
            <a:off x="3236772" y="1018163"/>
            <a:ext cx="5745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python3 crypto.py --format text openssh.pk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python3 crypto.py --format json -o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result.json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openssh.pk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BBCDF5-AE6D-4C03-BE83-C2F7746E8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6" y="2640084"/>
            <a:ext cx="10319765" cy="310395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E3C93A-0E6D-4869-AB6C-3C17C585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5361" y="6400557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467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7F4DB-49C5-4C85-B933-B479AFBF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2603863"/>
            <a:ext cx="6156960" cy="116618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dirty="0"/>
              <a:t>Спасибо за внимание 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F6130C-9B48-45E4-B8D3-55733F2C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7451" y="6397081"/>
            <a:ext cx="753545" cy="365125"/>
          </a:xfrm>
        </p:spPr>
        <p:txBody>
          <a:bodyPr/>
          <a:lstStyle/>
          <a:p>
            <a:fld id="{0FC82134-A252-4186-8112-8A92411F608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427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85</TotalTime>
  <Words>472</Words>
  <Application>Microsoft Office PowerPoint</Application>
  <PresentationFormat>Широкоэкранный</PresentationFormat>
  <Paragraphs>83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Calisto MT</vt:lpstr>
      <vt:lpstr>Courier New</vt:lpstr>
      <vt:lpstr>Times New Roman</vt:lpstr>
      <vt:lpstr>Wingdings 2</vt:lpstr>
      <vt:lpstr>Сланец</vt:lpstr>
      <vt:lpstr>Парсер закрытых ключей OpenSSH openssh-key-v1</vt:lpstr>
      <vt:lpstr>Цель и задачи проекта</vt:lpstr>
      <vt:lpstr>Формат входного файла OpenSSH</vt:lpstr>
      <vt:lpstr>Алгоритм работы программы</vt:lpstr>
      <vt:lpstr>Поддерживаемые типы ключей</vt:lpstr>
      <vt:lpstr>запуск программы</vt:lpstr>
      <vt:lpstr>Спасибо за внимание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Парсер закрытых ключей OpenSSH openssh-key-v1</dc:title>
  <dc:creator>Денис Кулагин</dc:creator>
  <cp:lastModifiedBy>laborhoursf1@gmail.com</cp:lastModifiedBy>
  <cp:revision>45</cp:revision>
  <dcterms:created xsi:type="dcterms:W3CDTF">2026-06-14T09:18:22Z</dcterms:created>
  <dcterms:modified xsi:type="dcterms:W3CDTF">2026-06-14T11:05:33Z</dcterms:modified>
</cp:coreProperties>
</file>